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384000" cy="30276000" type="custom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heme" Target="theme/theme1.xml"/>
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nh2.png"/>
<Relationship Id="rId3" Type="http://schemas.openxmlformats.org/officeDocument/2006/relationships/image" Target="../media/tgas.png"/>
<Relationship Id="rId4" Type="http://schemas.openxmlformats.org/officeDocument/2006/relationships/image" Target="../media/trco10.png"/>
<Relationship Id="rId5" Type="http://schemas.openxmlformats.org/officeDocument/2006/relationships/image" Target="../media/tgas3d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21384000" cy="3456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3456000"/>
            <a:ext cx="21384000" cy="28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0" y="3744000"/>
            <a:ext cx="21384000" cy="144000"/>
          </a:xfrm>
          <a:prstGeom prst="rect">
            <a:avLst/>
          </a:prstGeom>
          <a:solidFill>
            <a:srgbClr val="2CB1A1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92000" y="288000"/>
            <a:ext cx="13860000" cy="16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ptos"/>
              </a:rPr>
              <a:t>3D-PDR Agent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64000" y="1800000"/>
            <a:ext cx="13860000" cy="11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600" b="0">
                <a:solidFill>
                  <a:srgbClr val="DCEBFA"/>
                </a:solidFill>
                <a:latin typeface="Aptos"/>
              </a:rPr>
              <a:t>A Codex skill/plugin workflow for reproducible ISM post-processing</a:t>
            </a:r>
          </a:p>
          <a:p>
            <a:pPr algn="l"/>
            <a:r>
              <a:rPr lang="en-US" sz="1600" b="0">
                <a:solidFill>
                  <a:srgbClr val="DCEBFA"/>
                </a:solidFill>
                <a:latin typeface="Aptos"/>
              </a:rPr>
              <a:t>from simulation snapshots to synthetic observables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5120000" y="504000"/>
            <a:ext cx="5400000" cy="19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r"/>
            <a:r>
              <a:rPr lang="en-US" sz="1400" b="0">
                <a:solidFill>
                  <a:srgbClr val="FFFFFF"/>
                </a:solidFill>
                <a:latin typeface="Aptos"/>
              </a:rPr>
              <a:t>A1 portrait poster</a:t>
            </a:r>
          </a:p>
          <a:p>
            <a:pPr algn="r"/>
            <a:r>
              <a:rPr lang="en-US" sz="1400" b="0">
                <a:solidFill>
                  <a:srgbClr val="FFFFFF"/>
                </a:solidFill>
                <a:latin typeface="Aptos"/>
              </a:rPr>
              <a:t>Astrophysics / ISM</a:t>
            </a:r>
          </a:p>
          <a:p>
            <a:pPr algn="r"/>
            <a:r>
              <a:rPr lang="en-US" sz="1400" b="0">
                <a:solidFill>
                  <a:srgbClr val="FFFFFF"/>
                </a:solidFill>
                <a:latin typeface="Aptos"/>
              </a:rPr>
              <a:t>X. Jiang et al.</a:t>
            </a:r>
          </a:p>
        </p:txBody>
      </p:sp>
      <p:sp>
        <p:nvSpPr>
          <p:cNvPr id="9" name="Shape 9"/>
          <p:cNvSpPr/>
          <p:nvPr/>
        </p:nvSpPr>
        <p:spPr>
          <a:xfrm>
            <a:off x="648000" y="4500000"/>
            <a:ext cx="20088000" cy="4968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6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080000" y="4896000"/>
            <a:ext cx="9720000" cy="79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2200" b="1">
                <a:solidFill>
                  <a:srgbClr val="102A43"/>
                </a:solidFill>
                <a:latin typeface="Aptos"/>
              </a:rPr>
              <a:t>Agent Workflow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448000" y="5004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r"/>
            <a:r>
              <a:rPr lang="en-US" sz="1300" b="0">
                <a:solidFill>
                  <a:srgbClr val="3B4A57"/>
                </a:solidFill>
                <a:latin typeface="Aptos"/>
              </a:rPr>
              <a:t>Transparent, file-based reproducibility</a:t>
            </a:r>
          </a:p>
        </p:txBody>
      </p:sp>
      <p:sp>
        <p:nvSpPr>
          <p:cNvPr id="12" name="Shape 12"/>
          <p:cNvSpPr/>
          <p:nvPr/>
        </p:nvSpPr>
        <p:spPr>
          <a:xfrm>
            <a:off x="1260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13" name="Shape 13"/>
          <p:cNvSpPr/>
          <p:nvPr/>
        </p:nvSpPr>
        <p:spPr>
          <a:xfrm>
            <a:off x="1440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440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124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INPUT/RAW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512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source snapshots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3816000" y="7092000"/>
            <a:ext cx="612000" cy="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4428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4608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608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292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INPUT/SELECTED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680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curated links + DAT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6984000" y="7092000"/>
            <a:ext cx="612000" cy="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596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776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776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460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sims_*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848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short run paths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0152000" y="7092000"/>
            <a:ext cx="612000" cy="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</p:cxnSp>
      <p:sp>
        <p:nvSpPr>
          <p:cNvPr id="30" name="Shape 30"/>
          <p:cNvSpPr/>
          <p:nvPr/>
        </p:nvSpPr>
        <p:spPr>
          <a:xfrm>
            <a:off x="10764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31" name="Shape 31"/>
          <p:cNvSpPr/>
          <p:nvPr/>
        </p:nvSpPr>
        <p:spPr>
          <a:xfrm>
            <a:off x="10944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10944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1628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3D-PDR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1016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chemistry + thermal state</a:t>
            </a:r>
          </a:p>
        </p:txBody>
      </p:sp>
      <p:cxnSp>
        <p:nvCxnSpPr>
          <p:cNvPr id="35" name="Connector 35"/>
          <p:cNvCxnSpPr/>
          <p:nvPr/>
        </p:nvCxnSpPr>
        <p:spPr>
          <a:xfrm>
            <a:off x="13320000" y="7092000"/>
            <a:ext cx="612000" cy="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13932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37" name="Shape 37"/>
          <p:cNvSpPr/>
          <p:nvPr/>
        </p:nvSpPr>
        <p:spPr>
          <a:xfrm>
            <a:off x="14112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4112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4796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RT-synth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4184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synthetic observables</a:t>
            </a:r>
          </a:p>
        </p:txBody>
      </p:sp>
      <p:cxnSp>
        <p:nvCxnSpPr>
          <p:cNvPr id="41" name="Connector 41"/>
          <p:cNvCxnSpPr/>
          <p:nvPr/>
        </p:nvCxnSpPr>
        <p:spPr>
          <a:xfrm>
            <a:off x="16488000" y="7092000"/>
            <a:ext cx="612000" cy="0"/>
          </a:xfrm>
          <a:prstGeom prst="line">
            <a:avLst/>
          </a:prstGeom>
          <a:ln w="25400">
            <a:solidFill>
              <a:srgbClr val="F28C28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17100000" y="6264000"/>
            <a:ext cx="2520000" cy="1656000"/>
          </a:xfrm>
          <a:prstGeom prst="roundRect">
            <a:avLst/>
          </a:prstGeom>
          <a:solidFill>
            <a:srgbClr val="F3F7FA"/>
          </a:solidFill>
          <a:ln w="8890">
            <a:solidFill>
              <a:srgbClr val="CAD6E0"/>
            </a:solidFill>
          </a:ln>
        </p:spPr>
      </p:sp>
      <p:sp>
        <p:nvSpPr>
          <p:cNvPr id="43" name="Shape 43"/>
          <p:cNvSpPr/>
          <p:nvPr/>
        </p:nvSpPr>
        <p:spPr>
          <a:xfrm>
            <a:off x="17280000" y="6516000"/>
            <a:ext cx="612000" cy="612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7280000" y="6552000"/>
            <a:ext cx="612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3600" tIns="3600" rIns="3600" bIns="3600"/>
          <a:lstStyle/>
          <a:p>
            <a:pPr algn="c"/>
            <a:r>
              <a:rPr lang="en-US"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7964000" y="6498000"/>
            <a:ext cx="151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880" b="1">
                <a:solidFill>
                  <a:srgbClr val="102A43"/>
                </a:solidFill>
                <a:latin typeface="Aptos"/>
              </a:rPr>
              <a:t>Products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7352000" y="7272000"/>
            <a:ext cx="2016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860" b="0">
                <a:solidFill>
                  <a:srgbClr val="3B4A57"/>
                </a:solidFill>
                <a:latin typeface="Aptos"/>
              </a:rPr>
              <a:t>preserved hierarchy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188000" y="8316000"/>
            <a:ext cx="18936000" cy="648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Operational knowledge becomes explicit: path conventions, skip/force behavior, local parameter rewriting, helper scripts, and HPC submission templates.</a:t>
            </a:r>
          </a:p>
        </p:txBody>
      </p:sp>
      <p:sp>
        <p:nvSpPr>
          <p:cNvPr id="48" name="Shape 48"/>
          <p:cNvSpPr/>
          <p:nvPr/>
        </p:nvSpPr>
        <p:spPr>
          <a:xfrm>
            <a:off x="648000" y="10152000"/>
            <a:ext cx="9720000" cy="835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6"/>
            </a:solidFill>
          </a:ln>
        </p:spPr>
      </p:sp>
      <p:sp>
        <p:nvSpPr>
          <p:cNvPr id="49" name="Shape 49"/>
          <p:cNvSpPr/>
          <p:nvPr/>
        </p:nvSpPr>
        <p:spPr>
          <a:xfrm>
            <a:off x="11016000" y="10152000"/>
            <a:ext cx="9720000" cy="8352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6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1080000" y="10512000"/>
            <a:ext cx="8856000" cy="79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2200" b="1">
                <a:solidFill>
                  <a:srgbClr val="102A43"/>
                </a:solidFill>
                <a:latin typeface="Aptos"/>
              </a:rPr>
              <a:t>Why an Agent?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080000" y="11556000"/>
            <a:ext cx="8856000" cy="259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3D-PDR and RT-synth post-processing is rich but operationally brittle: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raw snapshot placement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HDF5 -&gt; density DAT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velocity grids for RT-synth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local parameter rewriting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HPC sync + SLURM submission</a:t>
            </a:r>
          </a:p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- synthetic map rendering</a:t>
            </a:r>
          </a:p>
        </p:txBody>
      </p:sp>
      <p:sp>
        <p:nvSpPr>
          <p:cNvPr id="52" name="Shape 52"/>
          <p:cNvSpPr/>
          <p:nvPr/>
        </p:nvSpPr>
        <p:spPr>
          <a:xfrm>
            <a:off x="1080000" y="14652000"/>
            <a:ext cx="8856000" cy="1728000"/>
          </a:xfrm>
          <a:prstGeom prst="roundRect">
            <a:avLst/>
          </a:prstGeom>
          <a:solidFill>
            <a:srgbClr val="FFF3E4"/>
          </a:solidFill>
          <a:ln w="10160">
            <a:solidFill>
              <a:srgbClr val="F28C28"/>
            </a:solidFill>
          </a:ln>
        </p:spPr>
      </p:sp>
      <p:sp>
        <p:nvSpPr>
          <p:cNvPr id="53" name="Text 53"/>
          <p:cNvSpPr txBox="1"/>
          <p:nvPr/>
        </p:nvSpPr>
        <p:spPr>
          <a:xfrm>
            <a:off x="1296000" y="14904000"/>
            <a:ext cx="8424000" cy="11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300" b="1">
                <a:solidFill>
                  <a:srgbClr val="7A3E00"/>
                </a:solidFill>
                <a:latin typeface="Aptos"/>
              </a:rPr>
              <a:t>Design goal: make the notebook-to-HPC-to-products path repeatable and inspectable without hiding the astrophysics.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1080000" y="16776000"/>
            <a:ext cx="8856000" cy="97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200" b="0">
                <a:solidFill>
                  <a:srgbClr val="263238"/>
                </a:solidFill>
                <a:latin typeface="Aptos"/>
              </a:rPr>
              <a:t>The agent reduces operational friction while preserving transparent files and commands.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1448000" y="10512000"/>
            <a:ext cx="8856000" cy="79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2200" b="1">
                <a:solidFill>
                  <a:srgbClr val="102A43"/>
                </a:solidFill>
                <a:latin typeface="Aptos"/>
              </a:rPr>
              <a:t>Proposed Skill Names</a:t>
            </a:r>
          </a:p>
        </p:txBody>
      </p:sp>
      <p:sp>
        <p:nvSpPr>
          <p:cNvPr id="56" name="Shape 56"/>
          <p:cNvSpPr/>
          <p:nvPr/>
        </p:nvSpPr>
        <p:spPr>
          <a:xfrm>
            <a:off x="11484000" y="117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57" name="Text 57"/>
          <p:cNvSpPr txBox="1"/>
          <p:nvPr/>
        </p:nvSpPr>
        <p:spPr>
          <a:xfrm>
            <a:off x="11556000" y="117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import-raw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13788000" y="116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place incoming HDF5 snapshots under INPUT/RAW</a:t>
            </a:r>
          </a:p>
        </p:txBody>
      </p:sp>
      <p:sp>
        <p:nvSpPr>
          <p:cNvPr id="59" name="Shape 59"/>
          <p:cNvSpPr/>
          <p:nvPr/>
        </p:nvSpPr>
        <p:spPr>
          <a:xfrm>
            <a:off x="11484000" y="126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11556000" y="126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prep-dat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3788000" y="125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prepare SELECTED links, density DAT, and velocity DAT</a:t>
            </a:r>
          </a:p>
        </p:txBody>
      </p:sp>
      <p:sp>
        <p:nvSpPr>
          <p:cNvPr id="62" name="Shape 62"/>
          <p:cNvSpPr/>
          <p:nvPr/>
        </p:nvSpPr>
        <p:spPr>
          <a:xfrm>
            <a:off x="11484000" y="135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11556000" y="135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run-pdr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13788000" y="134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create snapshot-local sims_* folders and run 3DPDR</a:t>
            </a:r>
          </a:p>
        </p:txBody>
      </p:sp>
      <p:sp>
        <p:nvSpPr>
          <p:cNvPr id="65" name="Shape 65"/>
          <p:cNvSpPr/>
          <p:nvPr/>
        </p:nvSpPr>
        <p:spPr>
          <a:xfrm>
            <a:off x="11484000" y="144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66" name="Text 66"/>
          <p:cNvSpPr txBox="1"/>
          <p:nvPr/>
        </p:nvSpPr>
        <p:spPr>
          <a:xfrm>
            <a:off x="11556000" y="144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sync-hpc-run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13788000" y="143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rsync sources and submit sbatch jobs</a:t>
            </a:r>
          </a:p>
        </p:txBody>
      </p:sp>
      <p:sp>
        <p:nvSpPr>
          <p:cNvPr id="68" name="Shape 68"/>
          <p:cNvSpPr/>
          <p:nvPr/>
        </p:nvSpPr>
        <p:spPr>
          <a:xfrm>
            <a:off x="11484000" y="153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69" name="Text 69"/>
          <p:cNvSpPr txBox="1"/>
          <p:nvPr/>
        </p:nvSpPr>
        <p:spPr>
          <a:xfrm>
            <a:off x="11556000" y="153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run-rtsynth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3788000" y="152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produce multi-angle synthetic maps</a:t>
            </a:r>
          </a:p>
        </p:txBody>
      </p:sp>
      <p:sp>
        <p:nvSpPr>
          <p:cNvPr id="71" name="Shape 71"/>
          <p:cNvSpPr/>
          <p:nvPr/>
        </p:nvSpPr>
        <p:spPr>
          <a:xfrm>
            <a:off x="11484000" y="16200000"/>
            <a:ext cx="2088000" cy="540000"/>
          </a:xfrm>
          <a:prstGeom prst="roundRect">
            <a:avLst/>
          </a:prstGeom>
          <a:solidFill>
            <a:srgbClr val="E6F7F5"/>
          </a:solidFill>
          <a:ln w="6350">
            <a:solidFill>
              <a:srgbClr val="2CB1A1"/>
            </a:solidFill>
          </a:ln>
        </p:spPr>
      </p:sp>
      <p:sp>
        <p:nvSpPr>
          <p:cNvPr id="72" name="Text 72"/>
          <p:cNvSpPr txBox="1"/>
          <p:nvPr/>
        </p:nvSpPr>
        <p:spPr>
          <a:xfrm>
            <a:off x="11556000" y="16243200"/>
            <a:ext cx="1944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930" b="1">
                <a:solidFill>
                  <a:srgbClr val="075E56"/>
                </a:solidFill>
                <a:latin typeface="Aptos"/>
              </a:rPr>
              <a:t>render-rt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13788000" y="16171200"/>
            <a:ext cx="633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tIns="18000" rIns="18000" bIns="18000"/>
          <a:lstStyle/>
          <a:p>
            <a:pPr algn="l"/>
            <a:r>
              <a:rPr lang="en-US" sz="1020" b="0">
                <a:solidFill>
                  <a:srgbClr val="2A3742"/>
                </a:solidFill>
                <a:latin typeface="Aptos"/>
              </a:rPr>
              <a:t>convert RT output tables to PNG diagnostics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1484000" y="17316000"/>
            <a:ext cx="8784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150" b="0">
                <a:solidFill>
                  <a:srgbClr val="263238"/>
                </a:solidFill>
                <a:latin typeface="Aptos"/>
              </a:rPr>
              <a:t>Verb-first names read better in posters, talks, and user-facing docs.</a:t>
            </a:r>
          </a:p>
        </p:txBody>
      </p:sp>
      <p:sp>
        <p:nvSpPr>
          <p:cNvPr id="75" name="Shape 75"/>
          <p:cNvSpPr/>
          <p:nvPr/>
        </p:nvSpPr>
        <p:spPr>
          <a:xfrm>
            <a:off x="648000" y="19260000"/>
            <a:ext cx="20088000" cy="698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6"/>
            </a:solidFill>
          </a:ln>
        </p:spPr>
      </p:sp>
      <p:sp>
        <p:nvSpPr>
          <p:cNvPr id="76" name="Text 76"/>
          <p:cNvSpPr txBox="1"/>
          <p:nvPr/>
        </p:nvSpPr>
        <p:spPr>
          <a:xfrm>
            <a:off x="1080000" y="19620000"/>
            <a:ext cx="9360000" cy="79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2200" b="1">
                <a:solidFill>
                  <a:srgbClr val="102A43"/>
                </a:solidFill>
                <a:latin typeface="Aptos"/>
              </a:rPr>
              <a:t>Science Products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10944000" y="19800000"/>
            <a:ext cx="9000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r"/>
            <a:r>
              <a:rPr lang="en-US" sz="1200" b="0">
                <a:solidFill>
                  <a:srgbClr val="3B4A57"/>
                </a:solidFill>
                <a:latin typeface="Aptos"/>
              </a:rPr>
              <a:t>Bundled 3D-PDR benchmark outputs</a:t>
            </a:r>
          </a:p>
        </p:txBody>
      </p:sp>
      <p:pic>
        <p:nvPicPr>
          <p:cNvPr id="78" name="H2 column dens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20880000"/>
            <a:ext cx="4248000" cy="3168000"/>
          </a:xfrm>
          <a:prstGeom prst="rect">
            <a:avLst/>
          </a:prstGeom>
          <a:ln w="12700">
            <a:solidFill>
              <a:srgbClr val="D8E2EA"/>
            </a:solidFill>
          </a:ln>
        </p:spPr>
      </p:pic>
      <p:pic>
        <p:nvPicPr>
          <p:cNvPr id="79" name="Gas tempera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000" y="20880000"/>
            <a:ext cx="4248000" cy="3168000"/>
          </a:xfrm>
          <a:prstGeom prst="rect">
            <a:avLst/>
          </a:prstGeom>
          <a:ln w="12700">
            <a:solidFill>
              <a:srgbClr val="D8E2EA"/>
            </a:solidFill>
          </a:ln>
        </p:spPr>
      </p:pic>
      <p:pic>
        <p:nvPicPr>
          <p:cNvPr id="80" name="CO 1-0 trac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000" y="20880000"/>
            <a:ext cx="4248000" cy="3168000"/>
          </a:xfrm>
          <a:prstGeom prst="rect">
            <a:avLst/>
          </a:prstGeom>
          <a:ln w="12700">
            <a:solidFill>
              <a:srgbClr val="D8E2EA"/>
            </a:solidFill>
          </a:ln>
        </p:spPr>
      </p:pic>
      <p:pic>
        <p:nvPicPr>
          <p:cNvPr id="81" name="3D temperature bench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4000" y="20880000"/>
            <a:ext cx="4248000" cy="3168000"/>
          </a:xfrm>
          <a:prstGeom prst="rect">
            <a:avLst/>
          </a:prstGeom>
          <a:ln w="12700">
            <a:solidFill>
              <a:srgbClr val="D8E2EA"/>
            </a:solidFill>
          </a:ln>
        </p:spPr>
      </p:pic>
      <p:sp>
        <p:nvSpPr>
          <p:cNvPr id="82" name="Text 82"/>
          <p:cNvSpPr txBox="1"/>
          <p:nvPr/>
        </p:nvSpPr>
        <p:spPr>
          <a:xfrm>
            <a:off x="1152000" y="24192000"/>
            <a:ext cx="424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1020" b="1">
                <a:solidFill>
                  <a:srgbClr val="3B4A57"/>
                </a:solidFill>
                <a:latin typeface="Aptos"/>
              </a:rPr>
              <a:t>H2 column density</a:t>
            </a:r>
          </a:p>
        </p:txBody>
      </p:sp>
      <p:sp>
        <p:nvSpPr>
          <p:cNvPr id="83" name="Text 83"/>
          <p:cNvSpPr txBox="1"/>
          <p:nvPr/>
        </p:nvSpPr>
        <p:spPr>
          <a:xfrm>
            <a:off x="5976000" y="24192000"/>
            <a:ext cx="424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1020" b="1">
                <a:solidFill>
                  <a:srgbClr val="3B4A57"/>
                </a:solidFill>
                <a:latin typeface="Aptos"/>
              </a:rPr>
              <a:t>Gas temperature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10800000" y="24192000"/>
            <a:ext cx="424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1020" b="1">
                <a:solidFill>
                  <a:srgbClr val="3B4A57"/>
                </a:solidFill>
                <a:latin typeface="Aptos"/>
              </a:rPr>
              <a:t>CO 1-0 tracer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15624000" y="24192000"/>
            <a:ext cx="424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c"/>
            <a:r>
              <a:rPr lang="en-US" sz="1020" b="1">
                <a:solidFill>
                  <a:srgbClr val="3B4A57"/>
                </a:solidFill>
                <a:latin typeface="Aptos"/>
              </a:rPr>
              <a:t>3D thermal structure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1296000" y="25164000"/>
            <a:ext cx="1872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c"/>
            <a:r>
              <a:rPr lang="en-US" sz="1200" b="0">
                <a:solidFill>
                  <a:srgbClr val="263238"/>
                </a:solidFill>
                <a:latin typeface="Aptos"/>
              </a:rPr>
              <a:t>Robust post-processing bridges simulations and observable ISM diagnostics.</a:t>
            </a:r>
          </a:p>
        </p:txBody>
      </p:sp>
      <p:sp>
        <p:nvSpPr>
          <p:cNvPr id="87" name="Shape 87"/>
          <p:cNvSpPr/>
          <p:nvPr/>
        </p:nvSpPr>
        <p:spPr>
          <a:xfrm>
            <a:off x="648000" y="26892000"/>
            <a:ext cx="20088000" cy="2304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EE6"/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1080000" y="27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800" b="1">
                <a:solidFill>
                  <a:srgbClr val="102A43"/>
                </a:solidFill>
                <a:latin typeface="Aptos"/>
              </a:rPr>
              <a:t>Repository Architecture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1080000" y="27936000"/>
            <a:ext cx="9360000" cy="8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100" b="0">
                <a:solidFill>
                  <a:srgbClr val="263238"/>
                </a:solidFill>
                <a:latin typeface="Aptos"/>
              </a:rPr>
              <a:t>Canonical paths: INPUT/RAW, INPUT/SELECTED, 3D-PDR-dev, RT-synth, Products/RTsynth, plugins/3d-pdr-agent</a:t>
            </a:r>
          </a:p>
        </p:txBody>
      </p:sp>
      <p:sp>
        <p:nvSpPr>
          <p:cNvPr id="90" name="Shape 90"/>
          <p:cNvSpPr/>
          <p:nvPr/>
        </p:nvSpPr>
        <p:spPr>
          <a:xfrm>
            <a:off x="11304000" y="27288000"/>
            <a:ext cx="8784000" cy="1368000"/>
          </a:xfrm>
          <a:prstGeom prst="roundRect">
            <a:avLst/>
          </a:prstGeom>
          <a:solidFill>
            <a:srgbClr val="F1FBF8"/>
          </a:solidFill>
          <a:ln w="10160">
            <a:solidFill>
              <a:srgbClr val="2CB1A1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11592000" y="27468000"/>
            <a:ext cx="820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300" b="1">
                <a:solidFill>
                  <a:srgbClr val="075E56"/>
                </a:solidFill>
                <a:latin typeface="Aptos"/>
              </a:rPr>
              <a:t>Conference message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11592000" y="28008000"/>
            <a:ext cx="8208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0" tIns="72000" rIns="72000" bIns="72000"/>
          <a:lstStyle/>
          <a:p>
            <a:pPr algn="l"/>
            <a:r>
              <a:rPr lang="en-US" sz="1050" b="0">
                <a:solidFill>
                  <a:srgbClr val="263238"/>
                </a:solidFill>
                <a:latin typeface="Aptos"/>
              </a:rPr>
              <a:t>Agentic infrastructure reduces friction while preserving transparent scientific workflows.</a:t>
            </a:r>
          </a:p>
        </p:txBody>
      </p:sp>
      <p:sp>
        <p:nvSpPr>
          <p:cNvPr id="93" name="Shape 93"/>
          <p:cNvSpPr/>
          <p:nvPr/>
        </p:nvSpPr>
        <p:spPr>
          <a:xfrm>
            <a:off x="648000" y="29556000"/>
            <a:ext cx="20088000" cy="396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94" name="Text 94"/>
          <p:cNvSpPr txBox="1"/>
          <p:nvPr/>
        </p:nvSpPr>
        <p:spPr>
          <a:xfrm>
            <a:off x="864000" y="29610000"/>
            <a:ext cx="9900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l"/>
            <a:r>
              <a:rPr lang="en-US" sz="780" b="0">
                <a:solidFill>
                  <a:srgbClr val="FFFFFF"/>
                </a:solidFill>
                <a:latin typeface="Aptos"/>
              </a:rPr>
              <a:t>3D-PDR Agent | INPUT -&gt; DAT -&gt; 3D-PDR -&gt; RT-synth -&gt; Products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11880000" y="29610000"/>
            <a:ext cx="8640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t" lIns="7200" tIns="7200" rIns="7200" bIns="7200"/>
          <a:lstStyle/>
          <a:p>
            <a:pPr algn="r"/>
            <a:r>
              <a:rPr lang="en-US" sz="780" b="0">
                <a:solidFill>
                  <a:srgbClr val="DCEBFA"/>
                </a:solidFill>
                <a:latin typeface="Aptos"/>
              </a:rPr>
              <a:t>Edit author, affiliation, QR code, and captions before printing.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D-PDR Agent">
  <a:themeElements>
    <a:clrScheme name="3D-PDR">
      <a:dk1>
        <a:srgbClr val="102A43"/>
      </a:dk1>
      <a:lt1>
        <a:srgbClr val="FFFFFF"/>
      </a:lt1>
      <a:dk2>
        <a:srgbClr val="263238"/>
      </a:dk2>
      <a:lt2>
        <a:srgbClr val="F7F9FB"/>
      </a:lt2>
      <a:accent1>
        <a:srgbClr val="2CB1A1"/>
      </a:accent1>
      <a:accent2>
        <a:srgbClr val="F28C28"/>
      </a:accent2>
      <a:accent3>
        <a:srgbClr val="4C78A8"/>
      </a:accent3>
      <a:accent4>
        <a:srgbClr val="7A3E00"/>
      </a:accent4>
      <a:accent5>
        <a:srgbClr val="D6DEE6"/>
      </a:accent5>
      <a:accent6>
        <a:srgbClr val="6B7280"/>
      </a:accent6>
      <a:hlink>
        <a:srgbClr val="2563EB"/>
      </a:hlink>
      <a:folHlink>
        <a:srgbClr val="6D28D9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